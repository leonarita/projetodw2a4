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7"/>
  </p:notesMasterIdLst>
  <p:sldIdLst>
    <p:sldId id="256" r:id="rId2"/>
    <p:sldId id="260" r:id="rId3"/>
    <p:sldId id="259" r:id="rId4"/>
    <p:sldId id="261" r:id="rId5"/>
    <p:sldId id="287" r:id="rId6"/>
    <p:sldId id="263" r:id="rId7"/>
    <p:sldId id="288" r:id="rId8"/>
    <p:sldId id="289" r:id="rId9"/>
    <p:sldId id="292" r:id="rId10"/>
    <p:sldId id="293" r:id="rId11"/>
    <p:sldId id="296" r:id="rId12"/>
    <p:sldId id="290" r:id="rId13"/>
    <p:sldId id="291" r:id="rId14"/>
    <p:sldId id="294" r:id="rId15"/>
    <p:sldId id="295" r:id="rId16"/>
  </p:sldIdLst>
  <p:sldSz cx="9144000" cy="5143500" type="screen16x9"/>
  <p:notesSz cx="6858000" cy="9144000"/>
  <p:embeddedFontLst>
    <p:embeddedFont>
      <p:font typeface="Nixie One" panose="020B0604020202020204" charset="0"/>
      <p:regular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37BB4D-52B8-4551-BC7E-8E89F96EB5F1}">
  <a:tblStyle styleId="{EF37BB4D-52B8-4551-BC7E-8E89F96EB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32" autoAdjust="0"/>
    <p:restoredTop sz="94660"/>
  </p:normalViewPr>
  <p:slideViewPr>
    <p:cSldViewPr snapToGrid="0">
      <p:cViewPr varScale="1">
        <p:scale>
          <a:sx n="98" d="100"/>
          <a:sy n="98" d="100"/>
        </p:scale>
        <p:origin x="3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96501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961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13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903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266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512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37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649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591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915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298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800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628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074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611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58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3919993" y="3977033"/>
            <a:ext cx="1303500" cy="112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3809057" y="-81000"/>
            <a:ext cx="1525500" cy="176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2809875" y="-172875"/>
            <a:ext cx="1111500" cy="9624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602723" y="1360109"/>
            <a:ext cx="493800" cy="427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0800000" flipH="1">
            <a:off x="5278915" y="855279"/>
            <a:ext cx="944700" cy="818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0800000" flipH="1">
            <a:off x="5365799" y="352324"/>
            <a:ext cx="493800" cy="4272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5549153" y="1029780"/>
            <a:ext cx="404640" cy="374059"/>
            <a:chOff x="5975075" y="2327500"/>
            <a:chExt cx="420100" cy="388350"/>
          </a:xfrm>
        </p:grpSpPr>
        <p:sp>
          <p:nvSpPr>
            <p:cNvPr id="18" name="Google Shape;18;p2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3253021" y="113273"/>
            <a:ext cx="225085" cy="38996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4380526" y="515192"/>
            <a:ext cx="382958" cy="607111"/>
            <a:chOff x="6718575" y="2318625"/>
            <a:chExt cx="256950" cy="407375"/>
          </a:xfrm>
        </p:grpSpPr>
        <p:sp>
          <p:nvSpPr>
            <p:cNvPr id="22" name="Google Shape;22;p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199464" y="902959"/>
            <a:ext cx="395018" cy="403297"/>
            <a:chOff x="3951850" y="2985350"/>
            <a:chExt cx="407950" cy="416500"/>
          </a:xfrm>
        </p:grpSpPr>
        <p:sp>
          <p:nvSpPr>
            <p:cNvPr id="31" name="Google Shape;31;p2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 rot="10800000" flipH="1">
            <a:off x="5010533" y="4576648"/>
            <a:ext cx="1032900" cy="8946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 rot="10800000" flipH="1">
            <a:off x="5133679" y="4056450"/>
            <a:ext cx="540000" cy="467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 flipH="1">
            <a:off x="3101709" y="3629719"/>
            <a:ext cx="1032900" cy="8940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 flipH="1">
            <a:off x="3530384" y="4576662"/>
            <a:ext cx="452100" cy="3912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370705" y="4867761"/>
            <a:ext cx="312503" cy="312484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5772009" y="4056440"/>
            <a:ext cx="573943" cy="550550"/>
            <a:chOff x="5241175" y="4959100"/>
            <a:chExt cx="539775" cy="517775"/>
          </a:xfrm>
        </p:grpSpPr>
        <p:sp>
          <p:nvSpPr>
            <p:cNvPr id="41" name="Google Shape;41;p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3429208" y="3904791"/>
            <a:ext cx="377839" cy="34368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 rot="10800000" flipH="1">
            <a:off x="-94969" y="303826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3"/>
          <p:cNvSpPr/>
          <p:nvPr/>
        </p:nvSpPr>
        <p:spPr>
          <a:xfrm rot="5400000">
            <a:off x="559400" y="1538825"/>
            <a:ext cx="1788000" cy="2064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3"/>
          <p:cNvSpPr txBox="1">
            <a:spLocks noGrp="1"/>
          </p:cNvSpPr>
          <p:nvPr>
            <p:ph type="ctrTitle"/>
          </p:nvPr>
        </p:nvSpPr>
        <p:spPr>
          <a:xfrm>
            <a:off x="2743200" y="1735750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subTitle" idx="1"/>
          </p:nvPr>
        </p:nvSpPr>
        <p:spPr>
          <a:xfrm>
            <a:off x="2743200" y="2821004"/>
            <a:ext cx="5696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 flipH="1">
            <a:off x="66674" y="31354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828675" y="35165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 flipH="1">
            <a:off x="761999" y="8779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 rot="10800000" flipH="1">
            <a:off x="793851" y="4692801"/>
            <a:ext cx="517500" cy="4479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3"/>
          <p:cNvGrpSpPr/>
          <p:nvPr/>
        </p:nvGrpSpPr>
        <p:grpSpPr>
          <a:xfrm>
            <a:off x="996359" y="1070668"/>
            <a:ext cx="351204" cy="324661"/>
            <a:chOff x="5975075" y="2327500"/>
            <a:chExt cx="420100" cy="388350"/>
          </a:xfrm>
        </p:grpSpPr>
        <p:sp>
          <p:nvSpPr>
            <p:cNvPr id="58" name="Google Shape;58;p3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393600" y="334662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305253" y="553856"/>
            <a:ext cx="247469" cy="392302"/>
            <a:chOff x="6718575" y="2318625"/>
            <a:chExt cx="256950" cy="407375"/>
          </a:xfrm>
        </p:grpSpPr>
        <p:sp>
          <p:nvSpPr>
            <p:cNvPr id="62" name="Google Shape;62;p3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1419984" y="3634331"/>
            <a:ext cx="342882" cy="350068"/>
            <a:chOff x="3951850" y="2985350"/>
            <a:chExt cx="407950" cy="416500"/>
          </a:xfrm>
        </p:grpSpPr>
        <p:sp>
          <p:nvSpPr>
            <p:cNvPr id="71" name="Google Shape;71;p3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3"/>
          <p:cNvSpPr/>
          <p:nvPr/>
        </p:nvSpPr>
        <p:spPr>
          <a:xfrm rot="10800000" flipH="1">
            <a:off x="733424" y="39360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rot="10800000" flipH="1">
            <a:off x="738525" y="1008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 rot="10800000" flipH="1">
            <a:off x="-291325" y="4148475"/>
            <a:ext cx="1182300" cy="1023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 rot="10800000" flipH="1">
            <a:off x="420725" y="-652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19338" y="416705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3"/>
          <p:cNvGrpSpPr/>
          <p:nvPr/>
        </p:nvGrpSpPr>
        <p:grpSpPr>
          <a:xfrm>
            <a:off x="-50285" y="1452794"/>
            <a:ext cx="624844" cy="599376"/>
            <a:chOff x="5241175" y="4959100"/>
            <a:chExt cx="539775" cy="517775"/>
          </a:xfrm>
        </p:grpSpPr>
        <p:sp>
          <p:nvSpPr>
            <p:cNvPr id="81" name="Google Shape;81;p3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47199" y="4430470"/>
            <a:ext cx="505231" cy="45956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 rot="10800000" flipH="1">
            <a:off x="-94969" y="619169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4"/>
          <p:cNvSpPr/>
          <p:nvPr/>
        </p:nvSpPr>
        <p:spPr>
          <a:xfrm rot="5400000">
            <a:off x="499599" y="1905237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2051200" y="2085600"/>
            <a:ext cx="6282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Font typeface="Nixie One"/>
              <a:buChar char="◇"/>
              <a:defRPr sz="2400">
                <a:latin typeface="Nixie One"/>
                <a:ea typeface="Nixie One"/>
                <a:cs typeface="Nixie One"/>
                <a:sym typeface="Nixie One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￭"/>
              <a:defRPr sz="2400">
                <a:latin typeface="Nixie One"/>
                <a:ea typeface="Nixie One"/>
                <a:cs typeface="Nixie One"/>
                <a:sym typeface="Nixie One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￮"/>
              <a:defRPr sz="2400">
                <a:latin typeface="Nixie One"/>
                <a:ea typeface="Nixie One"/>
                <a:cs typeface="Nixie One"/>
                <a:sym typeface="Nixie One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92" name="Google Shape;92;p4"/>
          <p:cNvSpPr/>
          <p:nvPr/>
        </p:nvSpPr>
        <p:spPr>
          <a:xfrm rot="10800000" flipH="1">
            <a:off x="-123826" y="28115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 rot="10800000" flipH="1">
            <a:off x="638175" y="3192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 rot="10800000" flipH="1">
            <a:off x="752474" y="120180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 rot="10800000" flipH="1">
            <a:off x="657225" y="4380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986834" y="1394518"/>
            <a:ext cx="351204" cy="324661"/>
            <a:chOff x="5975075" y="2327500"/>
            <a:chExt cx="420100" cy="388350"/>
          </a:xfrm>
        </p:grpSpPr>
        <p:sp>
          <p:nvSpPr>
            <p:cNvPr id="97" name="Google Shape;97;p4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4"/>
          <p:cNvSpPr/>
          <p:nvPr/>
        </p:nvSpPr>
        <p:spPr>
          <a:xfrm>
            <a:off x="203100" y="30227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4"/>
          <p:cNvGrpSpPr/>
          <p:nvPr/>
        </p:nvGrpSpPr>
        <p:grpSpPr>
          <a:xfrm>
            <a:off x="295728" y="877706"/>
            <a:ext cx="247469" cy="392302"/>
            <a:chOff x="6718575" y="2318625"/>
            <a:chExt cx="256950" cy="407375"/>
          </a:xfrm>
        </p:grpSpPr>
        <p:sp>
          <p:nvSpPr>
            <p:cNvPr id="101" name="Google Shape;101;p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4"/>
          <p:cNvGrpSpPr/>
          <p:nvPr/>
        </p:nvGrpSpPr>
        <p:grpSpPr>
          <a:xfrm>
            <a:off x="1229484" y="3310481"/>
            <a:ext cx="342882" cy="350068"/>
            <a:chOff x="3951850" y="2985350"/>
            <a:chExt cx="407950" cy="416500"/>
          </a:xfrm>
        </p:grpSpPr>
        <p:sp>
          <p:nvSpPr>
            <p:cNvPr id="110" name="Google Shape;110;p4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4"/>
          <p:cNvSpPr/>
          <p:nvPr/>
        </p:nvSpPr>
        <p:spPr>
          <a:xfrm rot="10800000" flipH="1">
            <a:off x="542924" y="36121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 rot="10800000" flipH="1">
            <a:off x="729000" y="424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 rot="10800000" flipH="1">
            <a:off x="-115052" y="3996025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 rot="10800000" flipH="1">
            <a:off x="411200" y="2586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28838" y="38432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67092" y="1681690"/>
            <a:ext cx="455624" cy="437054"/>
            <a:chOff x="5241175" y="4959100"/>
            <a:chExt cx="539775" cy="517775"/>
          </a:xfrm>
        </p:grpSpPr>
        <p:sp>
          <p:nvSpPr>
            <p:cNvPr id="120" name="Google Shape;120;p4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144926" y="4214500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94000" y="1929581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“</a:t>
            </a:r>
            <a:endParaRPr sz="12000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6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6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1"/>
          </p:nvPr>
        </p:nvSpPr>
        <p:spPr>
          <a:xfrm>
            <a:off x="1734000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6"/>
          <p:cNvSpPr txBox="1">
            <a:spLocks noGrp="1"/>
          </p:cNvSpPr>
          <p:nvPr>
            <p:ph type="body" idx="2"/>
          </p:nvPr>
        </p:nvSpPr>
        <p:spPr>
          <a:xfrm>
            <a:off x="4562088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6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180;p6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81" name="Google Shape;181;p6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6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6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185" name="Google Shape;185;p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94" name="Google Shape;194;p6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6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6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04" name="Google Shape;204;p6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6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E29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◇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￭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￮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ctrTitle"/>
          </p:nvPr>
        </p:nvSpPr>
        <p:spPr>
          <a:xfrm>
            <a:off x="1160979" y="1952088"/>
            <a:ext cx="6343500" cy="8938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sz="4000" b="1" dirty="0">
                <a:solidFill>
                  <a:srgbClr val="00B0F0"/>
                </a:solidFill>
                <a:latin typeface="Nixie One" panose="020B0604020202020204" charset="0"/>
              </a:rPr>
              <a:t>Angular</a:t>
            </a:r>
            <a:r>
              <a:rPr lang="pt-BR" dirty="0">
                <a:solidFill>
                  <a:srgbClr val="00B0F0"/>
                </a:solidFill>
                <a:latin typeface="Nixie One" panose="020B0604020202020204" charset="0"/>
              </a:rPr>
              <a:t/>
            </a:r>
            <a:br>
              <a:rPr lang="pt-BR" dirty="0">
                <a:solidFill>
                  <a:srgbClr val="00B0F0"/>
                </a:solidFill>
                <a:latin typeface="Nixie One" panose="020B0604020202020204" charset="0"/>
              </a:rPr>
            </a:br>
            <a:endParaRPr dirty="0">
              <a:solidFill>
                <a:srgbClr val="00B0F0"/>
              </a:solidFill>
              <a:latin typeface="Nixie One" panose="020B060402020202020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0" y="4466392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2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  <a:t>Leonardo </a:t>
            </a:r>
            <a:r>
              <a:rPr lang="pt-BR" sz="1200" dirty="0" err="1">
                <a:solidFill>
                  <a:srgbClr val="00B0F0"/>
                </a:solidFill>
                <a:latin typeface="Nixie One" panose="020B0604020202020204" charset="0"/>
                <a:sym typeface="Nixie One"/>
              </a:rPr>
              <a:t>Naoki</a:t>
            </a:r>
            <a:r>
              <a:rPr lang="pt-BR" sz="12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  <a:t> Narita – SP3022498</a:t>
            </a:r>
            <a:br>
              <a:rPr lang="pt-BR" sz="12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</a:br>
            <a:r>
              <a:rPr lang="pt-BR" sz="12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  <a:t>Stefany Rodrigues dos Santos – SP303027X </a:t>
            </a:r>
            <a:r>
              <a:rPr lang="pt-BR" sz="4800" dirty="0">
                <a:solidFill>
                  <a:srgbClr val="00B0F0"/>
                </a:solidFill>
                <a:latin typeface="Nixie One"/>
                <a:sym typeface="Nixie One"/>
              </a:rPr>
              <a:t/>
            </a:r>
            <a:br>
              <a:rPr lang="pt-BR" sz="4800" dirty="0">
                <a:solidFill>
                  <a:srgbClr val="00B0F0"/>
                </a:solidFill>
                <a:latin typeface="Nixie One"/>
                <a:sym typeface="Nixie One"/>
              </a:rPr>
            </a:br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286000" y="2845940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12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  <a:t>Desenvolvimento Web II </a:t>
            </a:r>
          </a:p>
          <a:p>
            <a:pPr algn="ctr"/>
            <a:r>
              <a:rPr lang="pt-BR" sz="12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  <a:t>Professor Floriano Ferreira dos Reis Filho</a:t>
            </a:r>
            <a:r>
              <a:rPr lang="pt-BR" sz="48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  <a:t/>
            </a:r>
            <a:br>
              <a:rPr lang="pt-BR" sz="4800" dirty="0">
                <a:solidFill>
                  <a:srgbClr val="00B0F0"/>
                </a:solidFill>
                <a:latin typeface="Nixie One" panose="020B0604020202020204" charset="0"/>
                <a:sym typeface="Nixie One"/>
              </a:rPr>
            </a:br>
            <a:endParaRPr lang="pt-BR" dirty="0">
              <a:solidFill>
                <a:srgbClr val="00B0F0"/>
              </a:solidFill>
              <a:latin typeface="Nixie One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 txBox="1">
            <a:spLocks noGrp="1"/>
          </p:cNvSpPr>
          <p:nvPr>
            <p:ph type="body" idx="1"/>
          </p:nvPr>
        </p:nvSpPr>
        <p:spPr>
          <a:xfrm>
            <a:off x="1349375" y="267074"/>
            <a:ext cx="6282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00B0F0"/>
                </a:solidFill>
                <a:latin typeface="Nixie One" panose="020B0604020202020204" charset="0"/>
              </a:rPr>
              <a:t>Conteúdo</a:t>
            </a:r>
            <a:r>
              <a:rPr lang="pt-BR" dirty="0">
                <a:solidFill>
                  <a:srgbClr val="00B0F0"/>
                </a:solidFill>
                <a:latin typeface="+mj-lt"/>
              </a:rPr>
              <a:t> </a:t>
            </a:r>
            <a:endParaRPr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367" name="Google Shape;367;p15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" name="Retângulo 2"/>
          <p:cNvSpPr/>
          <p:nvPr/>
        </p:nvSpPr>
        <p:spPr>
          <a:xfrm>
            <a:off x="2420087" y="1441817"/>
            <a:ext cx="3289683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Revisão: </a:t>
            </a:r>
            <a:r>
              <a:rPr lang="pt-BR" sz="1600" dirty="0" err="1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Typescript</a:t>
            </a: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 e SPA;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Introdução ao </a:t>
            </a:r>
            <a:r>
              <a:rPr lang="pt-BR" sz="1600" dirty="0" smtClean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Angular;</a:t>
            </a:r>
            <a:endParaRPr lang="pt-BR" sz="1600" dirty="0">
              <a:solidFill>
                <a:schemeClr val="tx1"/>
              </a:solidFill>
              <a:latin typeface="Nixie One" panose="020B060402020202020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Vantagens e desvantagens;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Estruturas fundamentais;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Criação do projeto Angular;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  <a:cs typeface="Arial" panose="020B0604020202020204" pitchFamily="34" charset="0"/>
              </a:rPr>
              <a:t>Referências.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476575" y="1676400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00B0F0"/>
                </a:solidFill>
              </a:rPr>
              <a:t>Revisão: </a:t>
            </a:r>
            <a:r>
              <a:rPr lang="pt-BR" sz="2400" dirty="0" err="1">
                <a:solidFill>
                  <a:srgbClr val="00B0F0"/>
                </a:solidFill>
              </a:rPr>
              <a:t>Typescript</a:t>
            </a:r>
            <a:r>
              <a:rPr lang="pt-BR" sz="2400" dirty="0">
                <a:solidFill>
                  <a:srgbClr val="00B0F0"/>
                </a:solidFill>
              </a:rPr>
              <a:t> e SPA</a:t>
            </a:r>
            <a:endParaRPr sz="2400" dirty="0">
              <a:solidFill>
                <a:srgbClr val="00B0F0"/>
              </a:solidFill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"/>
          <p:cNvSpPr txBox="1">
            <a:spLocks noGrp="1"/>
          </p:cNvSpPr>
          <p:nvPr>
            <p:ph type="title"/>
          </p:nvPr>
        </p:nvSpPr>
        <p:spPr>
          <a:xfrm>
            <a:off x="2205194" y="0"/>
            <a:ext cx="4944300" cy="11788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Revisão: Typescript e SPA</a:t>
            </a:r>
            <a:endParaRPr sz="2400" dirty="0"/>
          </a:p>
        </p:txBody>
      </p:sp>
      <p:sp>
        <p:nvSpPr>
          <p:cNvPr id="373" name="Google Shape;373;p16"/>
          <p:cNvSpPr txBox="1">
            <a:spLocks noGrp="1"/>
          </p:cNvSpPr>
          <p:nvPr>
            <p:ph type="body" idx="1"/>
          </p:nvPr>
        </p:nvSpPr>
        <p:spPr>
          <a:xfrm>
            <a:off x="373524" y="2121825"/>
            <a:ext cx="3225194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pt-BR" sz="1600" b="1" dirty="0" err="1">
                <a:latin typeface="Nixie One" panose="020B0604020202020204" charset="0"/>
              </a:rPr>
              <a:t>Typescript</a:t>
            </a:r>
            <a:r>
              <a:rPr lang="pt-BR" sz="1600" b="1" dirty="0">
                <a:latin typeface="Nixie One" panose="020B0604020202020204" charset="0"/>
              </a:rPr>
              <a:t> </a:t>
            </a:r>
            <a:endParaRPr lang="pt-BR" sz="1600" dirty="0">
              <a:latin typeface="Nixie One" panose="020B0604020202020204" charset="0"/>
            </a:endParaRP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pt-BR" sz="1600" dirty="0" err="1">
                <a:latin typeface="Nixie One" panose="020B0604020202020204" charset="0"/>
              </a:rPr>
              <a:t>Superset</a:t>
            </a:r>
            <a:r>
              <a:rPr lang="pt-BR" sz="1600" dirty="0">
                <a:latin typeface="Nixie One" panose="020B0604020202020204" charset="0"/>
              </a:rPr>
              <a:t> do </a:t>
            </a:r>
            <a:r>
              <a:rPr lang="pt-BR" sz="1600" dirty="0" err="1">
                <a:latin typeface="Nixie One" panose="020B0604020202020204" charset="0"/>
              </a:rPr>
              <a:t>Javascript</a:t>
            </a:r>
            <a:r>
              <a:rPr lang="pt-BR" sz="1600" dirty="0">
                <a:latin typeface="Nixie One" panose="020B0604020202020204" charset="0"/>
              </a:rPr>
              <a:t>;</a:t>
            </a: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Tipagem de </a:t>
            </a:r>
            <a:r>
              <a:rPr lang="pt-BR" sz="1600" dirty="0" smtClean="0">
                <a:latin typeface="Nixie One" panose="020B0604020202020204" charset="0"/>
              </a:rPr>
              <a:t>dados.</a:t>
            </a:r>
            <a:endParaRPr lang="pt-BR" sz="1600" dirty="0">
              <a:latin typeface="Nixie One" panose="020B0604020202020204" charset="0"/>
            </a:endParaRPr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2"/>
          </p:nvPr>
        </p:nvSpPr>
        <p:spPr>
          <a:xfrm>
            <a:off x="3924300" y="2121825"/>
            <a:ext cx="3225194" cy="2663700"/>
          </a:xfrm>
        </p:spPr>
        <p:txBody>
          <a:bodyPr/>
          <a:lstStyle/>
          <a:p>
            <a:pPr marL="139700" indent="0">
              <a:buNone/>
            </a:pPr>
            <a:r>
              <a:rPr lang="pt-BR" sz="1600" b="1" dirty="0">
                <a:latin typeface="Nixie One" panose="020B0604020202020204" charset="0"/>
              </a:rPr>
              <a:t>SPA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Desenvolvimento de aplicações Web;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Otimizar a experiência do usuário;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Não renderiza a página toda, apenas partes dela.</a:t>
            </a:r>
          </a:p>
        </p:txBody>
      </p:sp>
      <p:sp>
        <p:nvSpPr>
          <p:cNvPr id="374" name="Google Shape;374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743200" y="2105625"/>
            <a:ext cx="5638800" cy="913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sz="2400" dirty="0">
                <a:solidFill>
                  <a:srgbClr val="00B0F0"/>
                </a:solidFill>
              </a:rPr>
              <a:t>Introdução ao Angular</a:t>
            </a:r>
            <a:endParaRPr sz="2400" dirty="0">
              <a:solidFill>
                <a:srgbClr val="00B0F0"/>
              </a:solidFill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3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831575" y="1466500"/>
            <a:ext cx="5139450" cy="30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Framework </a:t>
            </a:r>
            <a:r>
              <a:rPr lang="pt-BR" sz="1600" dirty="0" err="1">
                <a:latin typeface="Nixie One" panose="020B0604020202020204" charset="0"/>
              </a:rPr>
              <a:t>Javascript</a:t>
            </a:r>
            <a:r>
              <a:rPr lang="pt-BR" sz="1600" dirty="0">
                <a:latin typeface="Nixie One" panose="020B0604020202020204" charset="0"/>
              </a:rPr>
              <a:t> criado pelo Google;</a:t>
            </a:r>
          </a:p>
          <a:p>
            <a:pPr marL="285750" lvl="0" indent="-285750" algn="just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Páginas dinâmicas;</a:t>
            </a:r>
          </a:p>
          <a:p>
            <a:pPr marL="285750" lvl="0" indent="-285750" algn="just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O Angular utiliza </a:t>
            </a:r>
            <a:r>
              <a:rPr lang="pt-BR" sz="1600" dirty="0" err="1">
                <a:latin typeface="Nixie One" panose="020B0604020202020204" charset="0"/>
              </a:rPr>
              <a:t>Javascript</a:t>
            </a:r>
            <a:r>
              <a:rPr lang="pt-BR" sz="1600" dirty="0">
                <a:latin typeface="Nixie One" panose="020B0604020202020204" charset="0"/>
              </a:rPr>
              <a:t>, HTML e CSS;</a:t>
            </a:r>
          </a:p>
          <a:p>
            <a:pPr marL="285750" lvl="0" indent="-285750" algn="just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Podem usar </a:t>
            </a:r>
            <a:r>
              <a:rPr lang="pt-BR" sz="1600" dirty="0" err="1">
                <a:latin typeface="Nixie One" panose="020B0604020202020204" charset="0"/>
              </a:rPr>
              <a:t>libs</a:t>
            </a:r>
            <a:r>
              <a:rPr lang="pt-BR" sz="1600" dirty="0">
                <a:latin typeface="Nixie One" panose="020B0604020202020204" charset="0"/>
              </a:rPr>
              <a:t> externas, como </a:t>
            </a:r>
            <a:r>
              <a:rPr lang="pt-BR" sz="1600" dirty="0" err="1">
                <a:latin typeface="Nixie One" panose="020B0604020202020204" charset="0"/>
              </a:rPr>
              <a:t>boostrap</a:t>
            </a:r>
            <a:r>
              <a:rPr lang="pt-BR" sz="1600" dirty="0">
                <a:latin typeface="Nixie One" panose="020B0604020202020204" charset="0"/>
              </a:rPr>
              <a:t>. Angular material, entre outros.</a:t>
            </a:r>
          </a:p>
        </p:txBody>
      </p:sp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2026725" y="5545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Introdução ao Angular</a:t>
            </a:r>
            <a:endParaRPr sz="2400" dirty="0"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724150" y="2019300"/>
            <a:ext cx="5638800" cy="1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00B0F0"/>
                </a:solidFill>
              </a:rPr>
              <a:t>Vantagens e desvantagens</a:t>
            </a:r>
            <a:endParaRPr sz="2400" dirty="0">
              <a:solidFill>
                <a:srgbClr val="00B0F0"/>
              </a:solidFill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6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2089938" y="802364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Vantagens e desvantagens</a:t>
            </a:r>
            <a:endParaRPr sz="2400" dirty="0"/>
          </a:p>
        </p:txBody>
      </p:sp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059874" y="1614349"/>
            <a:ext cx="3636818" cy="3276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600" b="1" dirty="0">
                <a:latin typeface="Nixie One" panose="020B0604020202020204" charset="0"/>
              </a:rPr>
              <a:t>Vantagens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Combinação de dados bidirecional;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Consumo API REST (</a:t>
            </a:r>
            <a:r>
              <a:rPr lang="pt-BR" sz="1600" dirty="0" err="1">
                <a:latin typeface="Nixie One" panose="020B0604020202020204" charset="0"/>
              </a:rPr>
              <a:t>backend</a:t>
            </a:r>
            <a:r>
              <a:rPr lang="pt-BR" sz="1600" dirty="0">
                <a:latin typeface="Nixie One" panose="020B0604020202020204" charset="0"/>
              </a:rPr>
              <a:t>);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Estrutura do código;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Ambientes de testes;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Separação </a:t>
            </a:r>
            <a:r>
              <a:rPr lang="pt-BR" sz="1600" dirty="0" err="1">
                <a:latin typeface="Nixie One" panose="020B0604020202020204" charset="0"/>
              </a:rPr>
              <a:t>backend</a:t>
            </a:r>
            <a:r>
              <a:rPr lang="pt-BR" sz="1600" dirty="0">
                <a:latin typeface="Nixie One" panose="020B0604020202020204" charset="0"/>
              </a:rPr>
              <a:t> e </a:t>
            </a:r>
            <a:r>
              <a:rPr lang="pt-BR" sz="1600" dirty="0" err="1" smtClean="0">
                <a:latin typeface="Nixie One" panose="020B0604020202020204" charset="0"/>
              </a:rPr>
              <a:t>frontend</a:t>
            </a:r>
            <a:r>
              <a:rPr lang="pt-BR" sz="1600" dirty="0" smtClean="0">
                <a:latin typeface="Nixie One" panose="020B0604020202020204" charset="0"/>
              </a:rPr>
              <a:t>.</a:t>
            </a:r>
            <a:endParaRPr lang="pt-BR" sz="1600" dirty="0">
              <a:latin typeface="Nixie One" panose="020B060402020202020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2"/>
          </p:nvPr>
        </p:nvSpPr>
        <p:spPr>
          <a:xfrm>
            <a:off x="4696692" y="1614349"/>
            <a:ext cx="3636818" cy="3276306"/>
          </a:xfrm>
        </p:spPr>
        <p:txBody>
          <a:bodyPr/>
          <a:lstStyle/>
          <a:p>
            <a:pPr marL="139700" indent="0">
              <a:buNone/>
            </a:pPr>
            <a:r>
              <a:rPr lang="pt-BR" sz="1600" b="1" dirty="0">
                <a:latin typeface="Nixie One" panose="020B0604020202020204" charset="0"/>
              </a:rPr>
              <a:t>Desvantagens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Mudanças significativas;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600" dirty="0">
                <a:latin typeface="Nixie One" panose="020B0604020202020204" charset="0"/>
              </a:rPr>
              <a:t>Sintaxe complexa.</a:t>
            </a:r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7330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705100" y="2019300"/>
            <a:ext cx="5638800" cy="1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00B0F0"/>
                </a:solidFill>
              </a:rPr>
              <a:t>Estruturas Fundamentais</a:t>
            </a:r>
            <a:endParaRPr sz="2400" dirty="0">
              <a:solidFill>
                <a:srgbClr val="00B0F0"/>
              </a:solidFill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44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350818" y="1203263"/>
            <a:ext cx="6283038" cy="3819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buNone/>
            </a:pPr>
            <a:r>
              <a:rPr lang="pt-BR" b="1" u="sng" dirty="0">
                <a:latin typeface="Nixie One" panose="020B0604020202020204" charset="0"/>
              </a:rPr>
              <a:t>1) Estruturas Básicas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dirty="0">
                <a:latin typeface="Nixie One" panose="020B0604020202020204" charset="0"/>
              </a:rPr>
              <a:t>Classe : </a:t>
            </a: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</a:t>
            </a:r>
            <a:r>
              <a:rPr lang="pt-BR" dirty="0" err="1">
                <a:latin typeface="Nixie One" panose="020B0604020202020204" charset="0"/>
              </a:rPr>
              <a:t>class</a:t>
            </a:r>
            <a:r>
              <a:rPr lang="pt-BR" dirty="0">
                <a:latin typeface="Nixie One" panose="020B0604020202020204" charset="0"/>
              </a:rPr>
              <a:t> &lt;</a:t>
            </a:r>
            <a:r>
              <a:rPr lang="pt-BR" dirty="0" err="1">
                <a:latin typeface="Nixie One" panose="020B0604020202020204" charset="0"/>
              </a:rPr>
              <a:t>nameClass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dirty="0" err="1">
                <a:latin typeface="Nixie One" panose="020B0604020202020204" charset="0"/>
              </a:rPr>
              <a:t>Enum</a:t>
            </a:r>
            <a:r>
              <a:rPr lang="pt-BR" dirty="0">
                <a:latin typeface="Nixie One" panose="020B0604020202020204" charset="0"/>
              </a:rPr>
              <a:t> : </a:t>
            </a: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</a:t>
            </a:r>
            <a:r>
              <a:rPr lang="pt-BR" dirty="0" err="1">
                <a:latin typeface="Nixie One" panose="020B0604020202020204" charset="0"/>
              </a:rPr>
              <a:t>enum</a:t>
            </a:r>
            <a:r>
              <a:rPr lang="pt-BR" dirty="0">
                <a:latin typeface="Nixie One" panose="020B0604020202020204" charset="0"/>
              </a:rPr>
              <a:t> &lt;</a:t>
            </a:r>
            <a:r>
              <a:rPr lang="pt-BR" dirty="0" err="1">
                <a:latin typeface="Nixie One" panose="020B0604020202020204" charset="0"/>
              </a:rPr>
              <a:t>nameEnum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dirty="0">
                <a:latin typeface="Nixie One" panose="020B0604020202020204" charset="0"/>
              </a:rPr>
              <a:t>Interface : </a:t>
            </a: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interface &lt;</a:t>
            </a:r>
            <a:r>
              <a:rPr lang="pt-BR" dirty="0" err="1">
                <a:latin typeface="Nixie One" panose="020B0604020202020204" charset="0"/>
              </a:rPr>
              <a:t>nameInterf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pt-BR" dirty="0">
              <a:latin typeface="Nixie One" panose="020B0604020202020204" charset="0"/>
            </a:endParaRPr>
          </a:p>
          <a:p>
            <a:pPr marL="139700" indent="0" algn="just">
              <a:buNone/>
            </a:pPr>
            <a:r>
              <a:rPr lang="pt-BR" b="1" u="sng" dirty="0">
                <a:latin typeface="Nixie One" panose="020B0604020202020204" charset="0"/>
              </a:rPr>
              <a:t>2) Componente</a:t>
            </a:r>
            <a:r>
              <a:rPr lang="pt-BR" dirty="0">
                <a:latin typeface="Nixie One" panose="020B0604020202020204" charset="0"/>
              </a:rPr>
              <a:t>: Estrutura HTML, CSS e JS que realiza telas ou </a:t>
            </a:r>
            <a:r>
              <a:rPr lang="pt-BR" dirty="0" err="1">
                <a:latin typeface="Nixie One" panose="020B0604020202020204" charset="0"/>
              </a:rPr>
              <a:t>componentização</a:t>
            </a:r>
            <a:r>
              <a:rPr lang="pt-BR" dirty="0">
                <a:latin typeface="Nixie One" panose="020B0604020202020204" charset="0"/>
              </a:rPr>
              <a:t>.</a:t>
            </a:r>
          </a:p>
          <a:p>
            <a:pPr marL="139700" indent="0" algn="ctr">
              <a:buNone/>
            </a:pP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c &lt;</a:t>
            </a:r>
            <a:r>
              <a:rPr lang="pt-BR" dirty="0" err="1">
                <a:latin typeface="Nixie One" panose="020B0604020202020204" charset="0"/>
              </a:rPr>
              <a:t>nameComponent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marL="139700" indent="0">
              <a:buNone/>
            </a:pPr>
            <a:endParaRPr lang="pt-BR" dirty="0">
              <a:latin typeface="Nixie One" panose="020B0604020202020204" charset="0"/>
            </a:endParaRPr>
          </a:p>
          <a:p>
            <a:pPr marL="139700" indent="0">
              <a:buNone/>
            </a:pPr>
            <a:r>
              <a:rPr lang="pt-BR" b="1" u="sng" dirty="0">
                <a:latin typeface="Nixie One" panose="020B0604020202020204" charset="0"/>
              </a:rPr>
              <a:t>3) Module</a:t>
            </a:r>
            <a:r>
              <a:rPr lang="pt-BR" dirty="0">
                <a:latin typeface="Nixie One" panose="020B0604020202020204" charset="0"/>
              </a:rPr>
              <a:t>: Classe responsável por gerenciar </a:t>
            </a:r>
            <a:r>
              <a:rPr lang="pt-BR" dirty="0" err="1">
                <a:latin typeface="Nixie One" panose="020B0604020202020204" charset="0"/>
              </a:rPr>
              <a:t>imports</a:t>
            </a:r>
            <a:r>
              <a:rPr lang="pt-BR" dirty="0">
                <a:latin typeface="Nixie One" panose="020B0604020202020204" charset="0"/>
              </a:rPr>
              <a:t>, </a:t>
            </a:r>
            <a:r>
              <a:rPr lang="pt-BR" dirty="0" err="1">
                <a:latin typeface="Nixie One" panose="020B0604020202020204" charset="0"/>
              </a:rPr>
              <a:t>exports</a:t>
            </a:r>
            <a:r>
              <a:rPr lang="pt-BR" dirty="0">
                <a:latin typeface="Nixie One" panose="020B0604020202020204" charset="0"/>
              </a:rPr>
              <a:t> para componentes declarados em seu contexto.</a:t>
            </a:r>
          </a:p>
          <a:p>
            <a:pPr marL="139700" indent="0" algn="ctr">
              <a:buNone/>
            </a:pP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m &lt;</a:t>
            </a:r>
            <a:r>
              <a:rPr lang="pt-BR" dirty="0" err="1">
                <a:latin typeface="Nixie One" panose="020B0604020202020204" charset="0"/>
              </a:rPr>
              <a:t>nameModule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marL="139700" indent="0">
              <a:buNone/>
            </a:pPr>
            <a:endParaRPr lang="pt-BR" sz="1600" dirty="0">
              <a:latin typeface="Nixie One" panose="020B0604020202020204" charset="0"/>
            </a:endParaRPr>
          </a:p>
        </p:txBody>
      </p:sp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1985161" y="314382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Estruturas fundamentais</a:t>
            </a:r>
            <a:endParaRPr sz="2400" dirty="0"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581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350818" y="1203263"/>
            <a:ext cx="6283038" cy="3819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pt-BR" b="1" u="sng" dirty="0">
                <a:latin typeface="Nixie One" panose="020B0604020202020204" charset="0"/>
              </a:rPr>
              <a:t>4) Service</a:t>
            </a:r>
            <a:r>
              <a:rPr lang="pt-BR" dirty="0">
                <a:latin typeface="Nixie One" panose="020B0604020202020204" charset="0"/>
              </a:rPr>
              <a:t>: Classe Responsável por realizar a injeção de dependência.</a:t>
            </a:r>
          </a:p>
          <a:p>
            <a:pPr marL="139700" indent="0" algn="ctr">
              <a:buNone/>
            </a:pP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s &lt;</a:t>
            </a:r>
            <a:r>
              <a:rPr lang="pt-BR" dirty="0" err="1">
                <a:latin typeface="Nixie One" panose="020B0604020202020204" charset="0"/>
              </a:rPr>
              <a:t>nameService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marL="139700" indent="0" algn="ctr">
              <a:buNone/>
            </a:pPr>
            <a:endParaRPr lang="pt-BR" dirty="0">
              <a:latin typeface="Nixie One" panose="020B0604020202020204" charset="0"/>
            </a:endParaRPr>
          </a:p>
          <a:p>
            <a:pPr marL="139700" indent="0">
              <a:buNone/>
            </a:pPr>
            <a:r>
              <a:rPr lang="pt-BR" b="1" u="sng" dirty="0">
                <a:latin typeface="Nixie One" panose="020B0604020202020204" charset="0"/>
              </a:rPr>
              <a:t>5) </a:t>
            </a:r>
            <a:r>
              <a:rPr lang="pt-BR" b="1" u="sng" dirty="0" err="1">
                <a:latin typeface="Nixie One" panose="020B0604020202020204" charset="0"/>
              </a:rPr>
              <a:t>Pipe</a:t>
            </a:r>
            <a:r>
              <a:rPr lang="pt-BR" dirty="0">
                <a:latin typeface="Nixie One" panose="020B0604020202020204" charset="0"/>
              </a:rPr>
              <a:t>: Estrutura responsável por formatar dados.</a:t>
            </a:r>
          </a:p>
          <a:p>
            <a:pPr marL="139700" indent="0" algn="ctr">
              <a:buNone/>
            </a:pP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p &lt;</a:t>
            </a:r>
            <a:r>
              <a:rPr lang="pt-BR" dirty="0" err="1">
                <a:latin typeface="Nixie One" panose="020B0604020202020204" charset="0"/>
              </a:rPr>
              <a:t>namePipe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marL="139700" indent="0" algn="ctr">
              <a:buNone/>
            </a:pPr>
            <a:endParaRPr lang="pt-BR" dirty="0">
              <a:latin typeface="Nixie One" panose="020B0604020202020204" charset="0"/>
            </a:endParaRPr>
          </a:p>
          <a:p>
            <a:pPr marL="139700" indent="0">
              <a:buNone/>
            </a:pPr>
            <a:r>
              <a:rPr lang="pt-BR" b="1" u="sng" dirty="0">
                <a:latin typeface="Nixie One" panose="020B0604020202020204" charset="0"/>
              </a:rPr>
              <a:t>6) </a:t>
            </a:r>
            <a:r>
              <a:rPr lang="pt-BR" b="1" u="sng" dirty="0" err="1">
                <a:latin typeface="Nixie One" panose="020B0604020202020204" charset="0"/>
              </a:rPr>
              <a:t>Directive</a:t>
            </a:r>
            <a:r>
              <a:rPr lang="pt-BR" dirty="0">
                <a:latin typeface="Nixie One" panose="020B0604020202020204" charset="0"/>
              </a:rPr>
              <a:t>: Estrutura lógica nas </a:t>
            </a:r>
            <a:r>
              <a:rPr lang="pt-BR" dirty="0" err="1">
                <a:latin typeface="Nixie One" panose="020B0604020202020204" charset="0"/>
              </a:rPr>
              <a:t>tags</a:t>
            </a:r>
            <a:r>
              <a:rPr lang="pt-BR" dirty="0">
                <a:latin typeface="Nixie One" panose="020B0604020202020204" charset="0"/>
              </a:rPr>
              <a:t> HTML.</a:t>
            </a:r>
          </a:p>
          <a:p>
            <a:pPr marL="139700" indent="0" algn="ctr">
              <a:buNone/>
            </a:pP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d &lt;</a:t>
            </a:r>
            <a:r>
              <a:rPr lang="pt-BR" dirty="0" err="1">
                <a:latin typeface="Nixie One" panose="020B0604020202020204" charset="0"/>
              </a:rPr>
              <a:t>nameDirective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marL="139700" indent="0">
              <a:buNone/>
            </a:pPr>
            <a:endParaRPr lang="pt-BR" dirty="0">
              <a:latin typeface="Nixie One" panose="020B0604020202020204" charset="0"/>
            </a:endParaRPr>
          </a:p>
          <a:p>
            <a:pPr marL="139700" indent="0">
              <a:buNone/>
            </a:pPr>
            <a:r>
              <a:rPr lang="pt-BR" b="1" u="sng" dirty="0">
                <a:latin typeface="Nixie One" panose="020B0604020202020204" charset="0"/>
              </a:rPr>
              <a:t>7) Guard</a:t>
            </a:r>
            <a:r>
              <a:rPr lang="pt-BR" dirty="0">
                <a:latin typeface="Nixie One" panose="020B0604020202020204" charset="0"/>
              </a:rPr>
              <a:t>: Classe responsável por criar regras de restrição nas rotas.</a:t>
            </a:r>
          </a:p>
          <a:p>
            <a:pPr marL="139700" indent="0" algn="ctr">
              <a:buNone/>
            </a:pPr>
            <a:r>
              <a:rPr lang="pt-BR" dirty="0" err="1">
                <a:latin typeface="Nixie One" panose="020B0604020202020204" charset="0"/>
              </a:rPr>
              <a:t>ng</a:t>
            </a:r>
            <a:r>
              <a:rPr lang="pt-BR" dirty="0">
                <a:latin typeface="Nixie One" panose="020B0604020202020204" charset="0"/>
              </a:rPr>
              <a:t> g </a:t>
            </a:r>
            <a:r>
              <a:rPr lang="pt-BR" dirty="0" err="1">
                <a:latin typeface="Nixie One" panose="020B0604020202020204" charset="0"/>
              </a:rPr>
              <a:t>g</a:t>
            </a:r>
            <a:r>
              <a:rPr lang="pt-BR" dirty="0">
                <a:latin typeface="Nixie One" panose="020B0604020202020204" charset="0"/>
              </a:rPr>
              <a:t> &lt;</a:t>
            </a:r>
            <a:r>
              <a:rPr lang="pt-BR" dirty="0" err="1">
                <a:latin typeface="Nixie One" panose="020B0604020202020204" charset="0"/>
              </a:rPr>
              <a:t>nameGuard</a:t>
            </a:r>
            <a:r>
              <a:rPr lang="pt-BR" dirty="0">
                <a:latin typeface="Nixie One" panose="020B0604020202020204" charset="0"/>
              </a:rPr>
              <a:t>&gt;</a:t>
            </a:r>
          </a:p>
          <a:p>
            <a:pPr marL="139700" indent="0">
              <a:buNone/>
            </a:pPr>
            <a:endParaRPr lang="pt-BR" dirty="0">
              <a:latin typeface="Nixie One" panose="020B0604020202020204" charset="0"/>
            </a:endParaRPr>
          </a:p>
        </p:txBody>
      </p:sp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1985161" y="314382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Estruturas fundamentais</a:t>
            </a:r>
            <a:endParaRPr sz="2400" dirty="0"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1391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476575" y="2019300"/>
            <a:ext cx="5638800" cy="1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00B0F0"/>
                </a:solidFill>
              </a:rPr>
              <a:t>Criação do projeto Angular </a:t>
            </a:r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439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2026725" y="5545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Criação do projeto Angular</a:t>
            </a:r>
            <a:endParaRPr sz="2400" dirty="0"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8" name="Google Shape;407;p19">
            <a:extLst>
              <a:ext uri="{FF2B5EF4-FFF2-40B4-BE49-F238E27FC236}">
                <a16:creationId xmlns:a16="http://schemas.microsoft.com/office/drawing/2014/main" xmlns="" id="{795C99B8-B1D3-4D15-853F-4866DBBDC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0901" y="1384973"/>
            <a:ext cx="6157022" cy="30240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600" b="1" dirty="0">
                <a:latin typeface="Nixie One" panose="020B0604020202020204" charset="0"/>
              </a:rPr>
              <a:t>Instalando o Angular</a:t>
            </a:r>
            <a:endParaRPr sz="1600" b="1" dirty="0">
              <a:latin typeface="Nixie One" panose="020B0604020202020204" charset="0"/>
            </a:endParaRP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" sz="1600" dirty="0">
                <a:latin typeface="Nixie One" panose="020B0604020202020204" charset="0"/>
              </a:rPr>
              <a:t>Instalar o NodeJS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" sz="1600" dirty="0">
                <a:latin typeface="Nixie One" panose="020B0604020202020204" charset="0"/>
              </a:rPr>
              <a:t>Instalar o Angular com o comando: </a:t>
            </a:r>
            <a:r>
              <a:rPr lang="en" sz="1600" b="1" dirty="0">
                <a:solidFill>
                  <a:srgbClr val="19BBD5"/>
                </a:solidFill>
                <a:latin typeface="Nixie One" panose="020B0604020202020204" charset="0"/>
              </a:rPr>
              <a:t>npm install –g @angular/cli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600" b="1" dirty="0">
              <a:latin typeface="Nixie One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dirty="0">
                <a:latin typeface="Nixie One" panose="020B0604020202020204" charset="0"/>
              </a:rPr>
              <a:t>Criando projeto simples em Angular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pt-BR" sz="1600" dirty="0">
                <a:latin typeface="Nixie One" panose="020B0604020202020204" charset="0"/>
              </a:rPr>
              <a:t>Comando: </a:t>
            </a:r>
            <a:r>
              <a:rPr lang="pt-BR" sz="1600" b="1" dirty="0" err="1">
                <a:solidFill>
                  <a:srgbClr val="19BBD5"/>
                </a:solidFill>
                <a:latin typeface="Nixie One" panose="020B0604020202020204" charset="0"/>
              </a:rPr>
              <a:t>ng</a:t>
            </a:r>
            <a:r>
              <a:rPr lang="pt-BR" sz="1600" b="1" dirty="0">
                <a:solidFill>
                  <a:srgbClr val="19BBD5"/>
                </a:solidFill>
                <a:latin typeface="Nixie One" panose="020B0604020202020204" charset="0"/>
              </a:rPr>
              <a:t> new &lt;</a:t>
            </a:r>
            <a:r>
              <a:rPr lang="pt-BR" sz="1600" b="1" dirty="0" err="1">
                <a:solidFill>
                  <a:srgbClr val="19BBD5"/>
                </a:solidFill>
                <a:latin typeface="Nixie One" panose="020B0604020202020204" charset="0"/>
              </a:rPr>
              <a:t>projectName</a:t>
            </a:r>
            <a:r>
              <a:rPr lang="pt-BR" sz="1600" b="1" dirty="0">
                <a:solidFill>
                  <a:srgbClr val="19BBD5"/>
                </a:solidFill>
                <a:latin typeface="Nixie One" panose="020B0604020202020204" charset="0"/>
              </a:rPr>
              <a:t>&gt;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" sz="1600" dirty="0">
                <a:latin typeface="Nixie One" panose="020B0604020202020204" charset="0"/>
              </a:rPr>
              <a:t>Pastas:</a:t>
            </a:r>
          </a:p>
          <a:p>
            <a:pPr marL="800100" lvl="1" indent="-342900">
              <a:spcBef>
                <a:spcPts val="600"/>
              </a:spcBef>
              <a:buAutoNum type="arabicPeriod"/>
            </a:pPr>
            <a:r>
              <a:rPr lang="en" sz="1600" dirty="0">
                <a:latin typeface="Nixie One" panose="020B0604020202020204" charset="0"/>
              </a:rPr>
              <a:t>src/assets: Arquivos renderizados no browser</a:t>
            </a:r>
          </a:p>
          <a:p>
            <a:pPr marL="800100" lvl="1" indent="-342900">
              <a:spcBef>
                <a:spcPts val="600"/>
              </a:spcBef>
              <a:buAutoNum type="arabicPeriod"/>
            </a:pPr>
            <a:r>
              <a:rPr lang="en" sz="1600" dirty="0">
                <a:latin typeface="Nixie One" panose="020B0604020202020204" charset="0"/>
              </a:rPr>
              <a:t>src/environments: Arquivos de ambiente</a:t>
            </a:r>
          </a:p>
          <a:p>
            <a:pPr marL="800100" lvl="1" indent="-342900">
              <a:spcBef>
                <a:spcPts val="600"/>
              </a:spcBef>
              <a:buAutoNum type="arabicPeriod"/>
            </a:pPr>
            <a:r>
              <a:rPr lang="en" sz="1600" dirty="0">
                <a:latin typeface="Nixie One" panose="020B0604020202020204" charset="0"/>
              </a:rPr>
              <a:t>src/app: Aplicação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xmlns="" id="{49E4BA6C-6F20-440D-AE00-2041279F5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283" y="1611814"/>
            <a:ext cx="2137471" cy="2570376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952E34D4-4157-4F72-9CB9-06455DABF9D5}"/>
              </a:ext>
            </a:extLst>
          </p:cNvPr>
          <p:cNvSpPr/>
          <p:nvPr/>
        </p:nvSpPr>
        <p:spPr>
          <a:xfrm>
            <a:off x="6695768" y="1761467"/>
            <a:ext cx="1051232" cy="147051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9A6389F1-8687-40A6-BF54-AA7ABDD06640}"/>
              </a:ext>
            </a:extLst>
          </p:cNvPr>
          <p:cNvSpPr/>
          <p:nvPr/>
        </p:nvSpPr>
        <p:spPr>
          <a:xfrm>
            <a:off x="6695767" y="1925008"/>
            <a:ext cx="1051232" cy="15582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xmlns="" id="{AE87B12F-8E30-420E-95EB-CFDDF8C58A03}"/>
              </a:ext>
            </a:extLst>
          </p:cNvPr>
          <p:cNvSpPr txBox="1"/>
          <p:nvPr/>
        </p:nvSpPr>
        <p:spPr>
          <a:xfrm>
            <a:off x="7746999" y="1832293"/>
            <a:ext cx="904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u="sng" dirty="0">
                <a:solidFill>
                  <a:schemeClr val="accent6"/>
                </a:solidFill>
                <a:latin typeface="Muli"/>
              </a:rPr>
              <a:t>Arquivos de dependências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2CEFBE4E-C603-40BC-A450-9EFC7C148EDE}"/>
              </a:ext>
            </a:extLst>
          </p:cNvPr>
          <p:cNvSpPr/>
          <p:nvPr/>
        </p:nvSpPr>
        <p:spPr>
          <a:xfrm>
            <a:off x="6931152" y="2244373"/>
            <a:ext cx="1051232" cy="1833851"/>
          </a:xfrm>
          <a:prstGeom prst="rect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xmlns="" id="{55E9A0D6-AC16-45DF-8AD3-5A55FD303319}"/>
              </a:ext>
            </a:extLst>
          </p:cNvPr>
          <p:cNvSpPr txBox="1"/>
          <p:nvPr/>
        </p:nvSpPr>
        <p:spPr>
          <a:xfrm>
            <a:off x="7970224" y="2242836"/>
            <a:ext cx="904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u="sng" dirty="0">
                <a:solidFill>
                  <a:srgbClr val="FFFF00"/>
                </a:solidFill>
                <a:latin typeface="Muli"/>
              </a:rPr>
              <a:t>Arquivos de Configuração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xmlns="" id="{B2CAED33-4F9D-4AA9-A9B8-FF3D1BDEACEF}"/>
              </a:ext>
            </a:extLst>
          </p:cNvPr>
          <p:cNvSpPr/>
          <p:nvPr/>
        </p:nvSpPr>
        <p:spPr>
          <a:xfrm>
            <a:off x="6601968" y="4468368"/>
            <a:ext cx="2290786" cy="51422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latin typeface="Muli"/>
              </a:rPr>
              <a:t>OBS: </a:t>
            </a:r>
            <a:r>
              <a:rPr lang="pt-BR" sz="1000" b="1" u="sng" dirty="0">
                <a:latin typeface="Muli"/>
              </a:rPr>
              <a:t>Rodar Angular</a:t>
            </a:r>
          </a:p>
          <a:p>
            <a:pPr algn="ctr"/>
            <a:r>
              <a:rPr lang="pt-BR" sz="1000" dirty="0" err="1">
                <a:solidFill>
                  <a:srgbClr val="19BBD5"/>
                </a:solidFill>
                <a:latin typeface="Muli"/>
              </a:rPr>
              <a:t>ng</a:t>
            </a:r>
            <a:r>
              <a:rPr lang="pt-BR" sz="1000" dirty="0">
                <a:solidFill>
                  <a:srgbClr val="19BBD5"/>
                </a:solidFill>
                <a:latin typeface="Muli"/>
              </a:rPr>
              <a:t> serve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xmlns="" id="{AAC5D536-9DD6-4A46-8ADB-8CFB53155FCF}"/>
              </a:ext>
            </a:extLst>
          </p:cNvPr>
          <p:cNvSpPr txBox="1"/>
          <p:nvPr/>
        </p:nvSpPr>
        <p:spPr>
          <a:xfrm>
            <a:off x="7750661" y="1496438"/>
            <a:ext cx="1123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u="sng" dirty="0">
                <a:solidFill>
                  <a:schemeClr val="accent5"/>
                </a:solidFill>
                <a:latin typeface="Muli"/>
              </a:rPr>
              <a:t>Arquivos de testes </a:t>
            </a:r>
            <a:r>
              <a:rPr lang="pt-BR" sz="800" u="sng" dirty="0" err="1">
                <a:solidFill>
                  <a:schemeClr val="accent5"/>
                </a:solidFill>
                <a:latin typeface="Muli"/>
              </a:rPr>
              <a:t>end-to-end</a:t>
            </a:r>
            <a:r>
              <a:rPr lang="pt-BR" sz="800" u="sng" dirty="0">
                <a:solidFill>
                  <a:schemeClr val="accent5"/>
                </a:solidFill>
                <a:latin typeface="Muli"/>
              </a:rPr>
              <a:t> (</a:t>
            </a:r>
            <a:r>
              <a:rPr lang="pt-BR" sz="800" u="sng" dirty="0" err="1">
                <a:solidFill>
                  <a:schemeClr val="accent5"/>
                </a:solidFill>
                <a:latin typeface="Muli"/>
              </a:rPr>
              <a:t>Protactor</a:t>
            </a:r>
            <a:r>
              <a:rPr lang="pt-BR" sz="800" u="sng" dirty="0">
                <a:solidFill>
                  <a:schemeClr val="accent5"/>
                </a:solidFill>
                <a:latin typeface="Mul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1233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479932" y="1447045"/>
            <a:ext cx="5707145" cy="30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</a:rPr>
              <a:t>Disponível em: https://www.hostinger.com.br/tutoriais/o-que-e-angular. Acesso em: 02 de fevereiro de 2021;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</a:rPr>
              <a:t>Disponível em: https://bognarjunior.wordpress.com/2016/02/28/angularjs-spa-single-page-application/. Acesso em: 02 de fevereiro de 2021;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</a:rPr>
              <a:t>Disponível em: https://blog.betrybe.com/desenvolvimento-web/typescript/. Acesso em 02 de fevereiro de 2021.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dirty="0">
              <a:latin typeface="Nixie One" panose="020B0604020202020204" charset="0"/>
            </a:endParaRPr>
          </a:p>
        </p:txBody>
      </p:sp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1861354" y="5545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Referências </a:t>
            </a:r>
            <a:endParaRPr sz="2400" dirty="0"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6213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645302" y="1427589"/>
            <a:ext cx="5707145" cy="30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</a:rPr>
              <a:t>Disponível em: https://medium.com/@henrique.freire/react-vue-angular-conhe%C3%A7a-suas-vantagens-e-desvantagens-e-qual-%C3%A9-melhor-para-seus-projetos-53734bb3d37f. Acesso em: 02 de fevereiro de 2021.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/>
                </a:solidFill>
                <a:latin typeface="Nixie One" panose="020B0604020202020204" charset="0"/>
              </a:rPr>
              <a:t>Disponível em: https://marialisboa.com/criando-um-projeto-angular/. Acesso em 02 de fevereiro de 2021.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dirty="0">
              <a:latin typeface="Nixie One" panose="020B0604020202020204" charset="0"/>
            </a:endParaRPr>
          </a:p>
        </p:txBody>
      </p:sp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2026725" y="5545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Referências </a:t>
            </a:r>
            <a:endParaRPr sz="2400" dirty="0"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2687433"/>
      </p:ext>
    </p:extLst>
  </p:cSld>
  <p:clrMapOvr>
    <a:masterClrMapping/>
  </p:clrMapOvr>
</p:sld>
</file>

<file path=ppt/theme/theme1.xml><?xml version="1.0" encoding="utf-8"?>
<a:theme xmlns:a="http://schemas.openxmlformats.org/drawingml/2006/main" name="Imogen template">
  <a:themeElements>
    <a:clrScheme name="Custom 347">
      <a:dk1>
        <a:srgbClr val="FFFFFF"/>
      </a:dk1>
      <a:lt1>
        <a:srgbClr val="0E293C"/>
      </a:lt1>
      <a:dk2>
        <a:srgbClr val="BBC9D3"/>
      </a:dk2>
      <a:lt2>
        <a:srgbClr val="184769"/>
      </a:lt2>
      <a:accent1>
        <a:srgbClr val="00E1C6"/>
      </a:accent1>
      <a:accent2>
        <a:srgbClr val="19BBD5"/>
      </a:accent2>
      <a:accent3>
        <a:srgbClr val="2C9DDE"/>
      </a:accent3>
      <a:accent4>
        <a:srgbClr val="3274E1"/>
      </a:accent4>
      <a:accent5>
        <a:srgbClr val="4C4ED5"/>
      </a:accent5>
      <a:accent6>
        <a:srgbClr val="5CF55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475</Words>
  <Application>Microsoft Office PowerPoint</Application>
  <PresentationFormat>Apresentação na tela (16:9)</PresentationFormat>
  <Paragraphs>94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Nixie One</vt:lpstr>
      <vt:lpstr>Muli</vt:lpstr>
      <vt:lpstr>Helvetica Neue</vt:lpstr>
      <vt:lpstr>Arial</vt:lpstr>
      <vt:lpstr>Wingdings</vt:lpstr>
      <vt:lpstr>Imogen template</vt:lpstr>
      <vt:lpstr> Angular </vt:lpstr>
      <vt:lpstr>Apresentação do PowerPoint</vt:lpstr>
      <vt:lpstr>Revisão: Typescript e SPA</vt:lpstr>
      <vt:lpstr>Revisão: Typescript e SPA</vt:lpstr>
      <vt:lpstr> Introdução ao Angular</vt:lpstr>
      <vt:lpstr>Introdução ao Angular</vt:lpstr>
      <vt:lpstr>Vantagens e desvantagens</vt:lpstr>
      <vt:lpstr>Vantagens e desvantagens</vt:lpstr>
      <vt:lpstr>Estruturas Fundamentais</vt:lpstr>
      <vt:lpstr>Estruturas fundamentais</vt:lpstr>
      <vt:lpstr>Estruturas fundamentais</vt:lpstr>
      <vt:lpstr>Criação do projeto Angular </vt:lpstr>
      <vt:lpstr>Criação do projeto Angular</vt:lpstr>
      <vt:lpstr>Referências </vt:lpstr>
      <vt:lpstr>Referências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JS</dc:title>
  <dc:creator>Stefany Santos</dc:creator>
  <cp:lastModifiedBy>Conta da Microsoft</cp:lastModifiedBy>
  <cp:revision>30</cp:revision>
  <dcterms:modified xsi:type="dcterms:W3CDTF">2021-03-15T21:44:12Z</dcterms:modified>
</cp:coreProperties>
</file>